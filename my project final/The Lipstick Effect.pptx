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oubag" charset="1" panose="02020A03060303060403"/>
      <p:regular r:id="rId18"/>
    </p:embeddedFont>
    <p:embeddedFont>
      <p:font typeface="Tenor Sans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9709" y="2390775"/>
            <a:ext cx="16768581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u="sng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THE LIPSTICK EFFECT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3015" y="7455035"/>
            <a:ext cx="9201969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Presented by Bailey Carpenter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9709" y="4555012"/>
            <a:ext cx="1676858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Using Google Trends API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46074" y="2433217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RESEARCH QUESTION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6074" y="4890100"/>
            <a:ext cx="1359585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Does the search intensity for luxury cosmetics and skincare coincide with decreased wages?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346074" y="3947522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46074" y="2080768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VARIABLES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6074" y="3677519"/>
            <a:ext cx="3879997" cy="469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2"/>
              </a:lnSpc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Skincare Brands: 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 Prairie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 Mer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Shiseido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Augustinus Bader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Caudalie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SkinCeuticals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Sisley Paris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Lancome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Kiehl’s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2346074" y="3567981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698751" y="3677519"/>
            <a:ext cx="3988552" cy="337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7"/>
              </a:lnSpc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Cosmetic Brands: 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Chanel Beauty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Tom Ford Beauty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Dior Beauty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YSL Beauty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Charlotte Tilburry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Laura Mercier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11773" y="7188230"/>
            <a:ext cx="3832489" cy="230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64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Luxury Index: </a:t>
            </a:r>
          </a:p>
          <a:p>
            <a:pPr algn="l" marL="570117" indent="-285058" lvl="1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generated variable representing the general interest for luxury brands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9982" y="3677519"/>
            <a:ext cx="5070257" cy="322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8"/>
              </a:lnSpc>
            </a:pPr>
            <a:r>
              <a:rPr lang="en-US" sz="307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Bureau of Labor Statistics</a:t>
            </a:r>
          </a:p>
          <a:p>
            <a:pPr algn="l" marL="662965" indent="-331482" lvl="1">
              <a:lnSpc>
                <a:spcPts val="4298"/>
              </a:lnSpc>
              <a:buFont typeface="Arial"/>
              <a:buChar char="•"/>
            </a:pPr>
            <a:r>
              <a:rPr lang="en-US" sz="307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Wage and Salary growth over a 12 month period, presented as a percent per yearly quarter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41926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2113268" y="2686784"/>
            <a:ext cx="14061465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303159" y="2975834"/>
            <a:ext cx="6385039" cy="1404709"/>
          </a:xfrm>
          <a:custGeom>
            <a:avLst/>
            <a:gdLst/>
            <a:ahLst/>
            <a:cxnLst/>
            <a:rect r="r" b="b" t="t" l="l"/>
            <a:pathLst>
              <a:path h="1404709" w="6385039">
                <a:moveTo>
                  <a:pt x="0" y="0"/>
                </a:moveTo>
                <a:lnTo>
                  <a:pt x="6385039" y="0"/>
                </a:lnTo>
                <a:lnTo>
                  <a:pt x="6385039" y="1404709"/>
                </a:lnTo>
                <a:lnTo>
                  <a:pt x="0" y="14047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43819" y="2932131"/>
            <a:ext cx="5888758" cy="3481728"/>
          </a:xfrm>
          <a:custGeom>
            <a:avLst/>
            <a:gdLst/>
            <a:ahLst/>
            <a:cxnLst/>
            <a:rect r="r" b="b" t="t" l="l"/>
            <a:pathLst>
              <a:path h="3481728" w="5888758">
                <a:moveTo>
                  <a:pt x="0" y="0"/>
                </a:moveTo>
                <a:lnTo>
                  <a:pt x="5888758" y="0"/>
                </a:lnTo>
                <a:lnTo>
                  <a:pt x="5888758" y="3481727"/>
                </a:lnTo>
                <a:lnTo>
                  <a:pt x="0" y="3481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68467" y="6413858"/>
            <a:ext cx="4919731" cy="1580464"/>
          </a:xfrm>
          <a:custGeom>
            <a:avLst/>
            <a:gdLst/>
            <a:ahLst/>
            <a:cxnLst/>
            <a:rect r="r" b="b" t="t" l="l"/>
            <a:pathLst>
              <a:path h="1580464" w="4919731">
                <a:moveTo>
                  <a:pt x="0" y="0"/>
                </a:moveTo>
                <a:lnTo>
                  <a:pt x="4919731" y="0"/>
                </a:lnTo>
                <a:lnTo>
                  <a:pt x="4919731" y="1580464"/>
                </a:lnTo>
                <a:lnTo>
                  <a:pt x="0" y="1580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99119" y="7994322"/>
            <a:ext cx="6442806" cy="1493170"/>
          </a:xfrm>
          <a:custGeom>
            <a:avLst/>
            <a:gdLst/>
            <a:ahLst/>
            <a:cxnLst/>
            <a:rect r="r" b="b" t="t" l="l"/>
            <a:pathLst>
              <a:path h="1493170" w="6442806">
                <a:moveTo>
                  <a:pt x="0" y="0"/>
                </a:moveTo>
                <a:lnTo>
                  <a:pt x="6442807" y="0"/>
                </a:lnTo>
                <a:lnTo>
                  <a:pt x="6442807" y="1493170"/>
                </a:lnTo>
                <a:lnTo>
                  <a:pt x="0" y="14931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548" r="-20455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46074" y="1362955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USING APIS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1150" y="2786797"/>
            <a:ext cx="5352867" cy="646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API Used: Pytrends</a:t>
            </a:r>
          </a:p>
          <a:p>
            <a:pPr algn="l">
              <a:lnSpc>
                <a:spcPts val="3687"/>
              </a:lnSpc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Parameters: </a:t>
            </a:r>
          </a:p>
          <a:p>
            <a:pPr algn="l" marL="568674" indent="-284337" lvl="1">
              <a:lnSpc>
                <a:spcPts val="3687"/>
              </a:lnSpc>
              <a:buFont typeface="Arial"/>
              <a:buChar char="•"/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timeframe</a:t>
            </a:r>
          </a:p>
          <a:p>
            <a:pPr algn="l" marL="568674" indent="-284337" lvl="1">
              <a:lnSpc>
                <a:spcPts val="3687"/>
              </a:lnSpc>
              <a:buFont typeface="Arial"/>
              <a:buChar char="•"/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geo</a:t>
            </a:r>
          </a:p>
          <a:p>
            <a:pPr algn="l">
              <a:lnSpc>
                <a:spcPts val="3687"/>
              </a:lnSpc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Main Issue: </a:t>
            </a:r>
          </a:p>
          <a:p>
            <a:pPr algn="l" marL="568674" indent="-284337" lvl="1">
              <a:lnSpc>
                <a:spcPts val="3687"/>
              </a:lnSpc>
              <a:buFont typeface="Arial"/>
              <a:buChar char="•"/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Google does not like large scaled pull requests, so the function “time.sleep” was used to create pauses in the requests</a:t>
            </a:r>
          </a:p>
          <a:p>
            <a:pPr algn="l" marL="568674" indent="-284337" lvl="1">
              <a:lnSpc>
                <a:spcPts val="3687"/>
              </a:lnSpc>
              <a:buFont typeface="Arial"/>
              <a:buChar char="•"/>
            </a:pPr>
            <a:r>
              <a:rPr lang="en-US" sz="263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Additionally, variables were batched into groups of 5 with a single anchor variable for normalization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28352" y="380939"/>
            <a:ext cx="12231297" cy="9525123"/>
          </a:xfrm>
          <a:custGeom>
            <a:avLst/>
            <a:gdLst/>
            <a:ahLst/>
            <a:cxnLst/>
            <a:rect r="r" b="b" t="t" l="l"/>
            <a:pathLst>
              <a:path h="9525123" w="12231297">
                <a:moveTo>
                  <a:pt x="0" y="0"/>
                </a:moveTo>
                <a:lnTo>
                  <a:pt x="12231296" y="0"/>
                </a:lnTo>
                <a:lnTo>
                  <a:pt x="12231296" y="9525122"/>
                </a:lnTo>
                <a:lnTo>
                  <a:pt x="0" y="95251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2346074" y="2383412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4332269" y="2509264"/>
            <a:ext cx="9623463" cy="7217597"/>
          </a:xfrm>
          <a:custGeom>
            <a:avLst/>
            <a:gdLst/>
            <a:ahLst/>
            <a:cxnLst/>
            <a:rect r="r" b="b" t="t" l="l"/>
            <a:pathLst>
              <a:path h="7217597" w="9623463">
                <a:moveTo>
                  <a:pt x="0" y="0"/>
                </a:moveTo>
                <a:lnTo>
                  <a:pt x="9623462" y="0"/>
                </a:lnTo>
                <a:lnTo>
                  <a:pt x="9623462" y="7217597"/>
                </a:lnTo>
                <a:lnTo>
                  <a:pt x="0" y="72175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46074" y="1088158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GRAPH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2346074" y="2383412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129519" y="2544373"/>
            <a:ext cx="12028962" cy="7155592"/>
          </a:xfrm>
          <a:custGeom>
            <a:avLst/>
            <a:gdLst/>
            <a:ahLst/>
            <a:cxnLst/>
            <a:rect r="r" b="b" t="t" l="l"/>
            <a:pathLst>
              <a:path h="7155592" w="12028962">
                <a:moveTo>
                  <a:pt x="0" y="0"/>
                </a:moveTo>
                <a:lnTo>
                  <a:pt x="12028962" y="0"/>
                </a:lnTo>
                <a:lnTo>
                  <a:pt x="12028962" y="7155592"/>
                </a:lnTo>
                <a:lnTo>
                  <a:pt x="0" y="71555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937" t="0" r="-1699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46074" y="1088158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GRAPH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2346074" y="2383412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856501" y="2651075"/>
            <a:ext cx="12574997" cy="6287499"/>
          </a:xfrm>
          <a:custGeom>
            <a:avLst/>
            <a:gdLst/>
            <a:ahLst/>
            <a:cxnLst/>
            <a:rect r="r" b="b" t="t" l="l"/>
            <a:pathLst>
              <a:path h="6287499" w="12574997">
                <a:moveTo>
                  <a:pt x="0" y="0"/>
                </a:moveTo>
                <a:lnTo>
                  <a:pt x="12574998" y="0"/>
                </a:lnTo>
                <a:lnTo>
                  <a:pt x="12574998" y="6287499"/>
                </a:lnTo>
                <a:lnTo>
                  <a:pt x="0" y="62874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46074" y="1088158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GRAPH 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2346074" y="2042828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565668" y="2209015"/>
            <a:ext cx="3238500" cy="7220157"/>
          </a:xfrm>
          <a:custGeom>
            <a:avLst/>
            <a:gdLst/>
            <a:ahLst/>
            <a:cxnLst/>
            <a:rect r="r" b="b" t="t" l="l"/>
            <a:pathLst>
              <a:path h="7220157" w="3238500">
                <a:moveTo>
                  <a:pt x="0" y="0"/>
                </a:moveTo>
                <a:lnTo>
                  <a:pt x="3238500" y="0"/>
                </a:lnTo>
                <a:lnTo>
                  <a:pt x="3238500" y="7220158"/>
                </a:lnTo>
                <a:lnTo>
                  <a:pt x="0" y="72201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96374" b="-179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28018" y="2209015"/>
            <a:ext cx="3411524" cy="7220157"/>
          </a:xfrm>
          <a:custGeom>
            <a:avLst/>
            <a:gdLst/>
            <a:ahLst/>
            <a:cxnLst/>
            <a:rect r="r" b="b" t="t" l="l"/>
            <a:pathLst>
              <a:path h="7220157" w="3411524">
                <a:moveTo>
                  <a:pt x="0" y="0"/>
                </a:moveTo>
                <a:lnTo>
                  <a:pt x="3411524" y="0"/>
                </a:lnTo>
                <a:lnTo>
                  <a:pt x="3411524" y="7220158"/>
                </a:lnTo>
                <a:lnTo>
                  <a:pt x="0" y="72201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67712" y="2555179"/>
            <a:ext cx="3984360" cy="6338285"/>
          </a:xfrm>
          <a:custGeom>
            <a:avLst/>
            <a:gdLst/>
            <a:ahLst/>
            <a:cxnLst/>
            <a:rect r="r" b="b" t="t" l="l"/>
            <a:pathLst>
              <a:path h="6338285" w="3984360">
                <a:moveTo>
                  <a:pt x="0" y="0"/>
                </a:moveTo>
                <a:lnTo>
                  <a:pt x="3984361" y="0"/>
                </a:lnTo>
                <a:lnTo>
                  <a:pt x="3984361" y="6338285"/>
                </a:lnTo>
                <a:lnTo>
                  <a:pt x="0" y="6338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23250" b="-29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46074" y="899474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2346074" y="2042828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346074" y="899474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1512" y="2360054"/>
            <a:ext cx="4603897" cy="469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2"/>
              </a:lnSpc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Skincare Model: 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 Prairie: -0.005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 Mer: -0.01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Shiseido: 0.07***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Augustinus Bader: -0.01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Caudalie: -0.04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SkinCeuticals: 0.01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Sisley Paris: 0.08*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Lancome: 0.001***</a:t>
            </a:r>
          </a:p>
          <a:p>
            <a:pPr algn="l" marL="577184" indent="-288592" lvl="1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Kiehl’s: -0.14***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7301" y="2360054"/>
            <a:ext cx="5245852" cy="337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7"/>
              </a:lnSpc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Cosmetic Brands: 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Chanel Beauty: -0.12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Tom Ford Beauty: -0.08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Dior Beauty: 0.05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YSL Beauty: -0.01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Charlotte Tilburry: 0.28</a:t>
            </a:r>
          </a:p>
          <a:p>
            <a:pPr algn="l" marL="593332" indent="-296666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Laura Mercier: 0.04**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25603" y="2151865"/>
            <a:ext cx="3832489" cy="91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64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Luxury Index: </a:t>
            </a:r>
          </a:p>
          <a:p>
            <a:pPr algn="l" marL="570117" indent="-285058" lvl="1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Coefficient: 0.02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2853" y="8770944"/>
            <a:ext cx="8359772" cy="91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64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*All coefficients were multiplied by 10 for ease in interpreting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46074" y="2080768"/>
            <a:ext cx="13595851" cy="13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4"/>
              </a:lnSpc>
            </a:pPr>
            <a:r>
              <a:rPr lang="en-US" sz="9864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CONCLUSIONS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6074" y="3915537"/>
            <a:ext cx="13595851" cy="39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Though some were statistically significant, the value size does not provide evidence of the lipstick effect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Lipstick effect may not be seen in search trends, rather simply in the sales for these brands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BF1E5"/>
                </a:solidFill>
                <a:latin typeface="Tenor Sans"/>
                <a:ea typeface="Tenor Sans"/>
                <a:cs typeface="Tenor Sans"/>
                <a:sym typeface="Tenor Sans"/>
              </a:rPr>
              <a:t>Many of these brands are sold on sites like Sephora or Ulta, meaning people looking to purchase may go to these sites first rather than direct Google searches 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2346074" y="3567981"/>
            <a:ext cx="13595851" cy="0"/>
          </a:xfrm>
          <a:prstGeom prst="line">
            <a:avLst/>
          </a:prstGeom>
          <a:ln cap="flat" w="28575">
            <a:solidFill>
              <a:srgbClr val="FBF1E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018" y="9258300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8018" y="-488785"/>
            <a:ext cx="4031965" cy="1517485"/>
          </a:xfrm>
          <a:custGeom>
            <a:avLst/>
            <a:gdLst/>
            <a:ahLst/>
            <a:cxnLst/>
            <a:rect r="r" b="b" t="t" l="l"/>
            <a:pathLst>
              <a:path h="1517485" w="4031965">
                <a:moveTo>
                  <a:pt x="0" y="0"/>
                </a:moveTo>
                <a:lnTo>
                  <a:pt x="4031964" y="0"/>
                </a:lnTo>
                <a:lnTo>
                  <a:pt x="4031964" y="1517485"/>
                </a:lnTo>
                <a:lnTo>
                  <a:pt x="0" y="15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46693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30861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0" y="0"/>
                </a:moveTo>
                <a:lnTo>
                  <a:pt x="3875393" y="0"/>
                </a:lnTo>
                <a:lnTo>
                  <a:pt x="3875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8075" y="380939"/>
            <a:ext cx="17551849" cy="9525123"/>
            <a:chOff x="0" y="0"/>
            <a:chExt cx="4622709" cy="2508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2709" cy="2508674"/>
            </a:xfrm>
            <a:custGeom>
              <a:avLst/>
              <a:gdLst/>
              <a:ahLst/>
              <a:cxnLst/>
              <a:rect r="r" b="b" t="t" l="l"/>
              <a:pathLst>
                <a:path h="2508674" w="4622709">
                  <a:moveTo>
                    <a:pt x="7940" y="0"/>
                  </a:moveTo>
                  <a:lnTo>
                    <a:pt x="4614770" y="0"/>
                  </a:lnTo>
                  <a:cubicBezTo>
                    <a:pt x="4616876" y="0"/>
                    <a:pt x="4618895" y="836"/>
                    <a:pt x="4620384" y="2325"/>
                  </a:cubicBezTo>
                  <a:cubicBezTo>
                    <a:pt x="4621873" y="3814"/>
                    <a:pt x="4622709" y="5834"/>
                    <a:pt x="4622709" y="7940"/>
                  </a:cubicBezTo>
                  <a:lnTo>
                    <a:pt x="4622709" y="2500735"/>
                  </a:lnTo>
                  <a:cubicBezTo>
                    <a:pt x="4622709" y="2505120"/>
                    <a:pt x="4619154" y="2508674"/>
                    <a:pt x="4614770" y="2508674"/>
                  </a:cubicBezTo>
                  <a:lnTo>
                    <a:pt x="7940" y="2508674"/>
                  </a:lnTo>
                  <a:cubicBezTo>
                    <a:pt x="3555" y="2508674"/>
                    <a:pt x="0" y="2505120"/>
                    <a:pt x="0" y="2500735"/>
                  </a:cubicBezTo>
                  <a:lnTo>
                    <a:pt x="0" y="7940"/>
                  </a:lnTo>
                  <a:cubicBezTo>
                    <a:pt x="0" y="3555"/>
                    <a:pt x="3555" y="0"/>
                    <a:pt x="7940" y="0"/>
                  </a:cubicBezTo>
                  <a:close/>
                </a:path>
              </a:pathLst>
            </a:custGeom>
            <a:solidFill>
              <a:srgbClr val="81B3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22709" cy="2546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78463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89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78463" y="8938574"/>
            <a:ext cx="1480837" cy="639453"/>
          </a:xfrm>
          <a:custGeom>
            <a:avLst/>
            <a:gdLst/>
            <a:ahLst/>
            <a:cxnLst/>
            <a:rect r="r" b="b" t="t" l="l"/>
            <a:pathLst>
              <a:path h="639453" w="1480837">
                <a:moveTo>
                  <a:pt x="0" y="0"/>
                </a:moveTo>
                <a:lnTo>
                  <a:pt x="1480837" y="0"/>
                </a:lnTo>
                <a:lnTo>
                  <a:pt x="1480837" y="639452"/>
                </a:lnTo>
                <a:lnTo>
                  <a:pt x="0" y="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20815" y="2949289"/>
            <a:ext cx="13646371" cy="474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2"/>
              </a:lnSpc>
            </a:pPr>
            <a:r>
              <a:rPr lang="en-US" sz="18272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THANK</a:t>
            </a:r>
          </a:p>
          <a:p>
            <a:pPr algn="ctr">
              <a:lnSpc>
                <a:spcPts val="18272"/>
              </a:lnSpc>
            </a:pPr>
            <a:r>
              <a:rPr lang="en-US" sz="18272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Y</a:t>
            </a:r>
            <a:r>
              <a:rPr lang="en-US" sz="18272">
                <a:solidFill>
                  <a:srgbClr val="FBF1E5"/>
                </a:solidFill>
                <a:latin typeface="Loubag"/>
                <a:ea typeface="Loubag"/>
                <a:cs typeface="Loubag"/>
                <a:sym typeface="Loubag"/>
              </a:rPr>
              <a:t>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DAHJeJctI6Q</dc:identifier>
  <dcterms:modified xsi:type="dcterms:W3CDTF">2011-08-01T06:04:30Z</dcterms:modified>
  <cp:revision>1</cp:revision>
  <dc:title>The Lipstick Effect</dc:title>
</cp:coreProperties>
</file>