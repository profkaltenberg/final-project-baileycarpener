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6858000" cy="9144000"/>
  <p:embeddedFontLst>
    <p:embeddedFont>
      <p:font typeface="Loubag" panose="02020A03060303060403" pitchFamily="18" charset="77"/>
      <p:regular r:id="rId15"/>
    </p:embeddedFont>
    <p:embeddedFont>
      <p:font typeface="Tenor Sans" panose="02000000000000000000" pitchFamily="2" charset="77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 autoAdjust="0"/>
    <p:restoredTop sz="94631" autoAdjust="0"/>
  </p:normalViewPr>
  <p:slideViewPr>
    <p:cSldViewPr>
      <p:cViewPr varScale="1">
        <p:scale>
          <a:sx n="81" d="100"/>
          <a:sy n="81" d="100"/>
        </p:scale>
        <p:origin x="224" y="2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3A026C-F298-294E-8E4C-B72F44022AB3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A31BB1-357E-C642-A6DA-7587A63A6D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5023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A31BB1-357E-C642-A6DA-7587A63A6DA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1815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sv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2.sv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.svg"/><Relationship Id="rId7" Type="http://schemas.openxmlformats.org/officeDocument/2006/relationships/image" Target="../media/image1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7128018" y="-488785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-2846693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7128018" y="9258300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7259300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368075" y="380939"/>
            <a:ext cx="17551849" cy="9525123"/>
            <a:chOff x="0" y="0"/>
            <a:chExt cx="4622709" cy="250867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622709" cy="2508674"/>
            </a:xfrm>
            <a:custGeom>
              <a:avLst/>
              <a:gdLst/>
              <a:ahLst/>
              <a:cxnLst/>
              <a:rect l="l" t="t" r="r" b="b"/>
              <a:pathLst>
                <a:path w="4622709" h="2508674">
                  <a:moveTo>
                    <a:pt x="7940" y="0"/>
                  </a:moveTo>
                  <a:lnTo>
                    <a:pt x="4614770" y="0"/>
                  </a:lnTo>
                  <a:cubicBezTo>
                    <a:pt x="4616876" y="0"/>
                    <a:pt x="4618895" y="836"/>
                    <a:pt x="4620384" y="2325"/>
                  </a:cubicBezTo>
                  <a:cubicBezTo>
                    <a:pt x="4621873" y="3814"/>
                    <a:pt x="4622709" y="5834"/>
                    <a:pt x="4622709" y="7940"/>
                  </a:cubicBezTo>
                  <a:lnTo>
                    <a:pt x="4622709" y="2500735"/>
                  </a:lnTo>
                  <a:cubicBezTo>
                    <a:pt x="4622709" y="2505120"/>
                    <a:pt x="4619154" y="2508674"/>
                    <a:pt x="4614770" y="2508674"/>
                  </a:cubicBezTo>
                  <a:lnTo>
                    <a:pt x="7940" y="2508674"/>
                  </a:lnTo>
                  <a:cubicBezTo>
                    <a:pt x="3555" y="2508674"/>
                    <a:pt x="0" y="2505120"/>
                    <a:pt x="0" y="2500735"/>
                  </a:cubicBezTo>
                  <a:lnTo>
                    <a:pt x="0" y="7940"/>
                  </a:lnTo>
                  <a:cubicBezTo>
                    <a:pt x="0" y="3555"/>
                    <a:pt x="3555" y="0"/>
                    <a:pt x="7940" y="0"/>
                  </a:cubicBezTo>
                  <a:close/>
                </a:path>
              </a:pathLst>
            </a:custGeom>
            <a:solidFill>
              <a:srgbClr val="81B3B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622709" cy="25467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5778463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1028700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028700" y="89385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5778463" y="89385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759709" y="2390775"/>
            <a:ext cx="16768581" cy="160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000"/>
              </a:lnSpc>
            </a:pPr>
            <a:r>
              <a:rPr lang="en-US" sz="12000" u="sng">
                <a:solidFill>
                  <a:srgbClr val="FBF1E5"/>
                </a:solidFill>
                <a:latin typeface="Loubag"/>
                <a:ea typeface="Loubag"/>
                <a:cs typeface="Loubag"/>
                <a:sym typeface="Loubag"/>
              </a:rPr>
              <a:t>THE LIPSTICK EFFECT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543015" y="7455035"/>
            <a:ext cx="9201969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</a:pPr>
            <a:r>
              <a:rPr lang="en-US" sz="3699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Presented by Bailey Carpenter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9709" y="4555012"/>
            <a:ext cx="16768581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00"/>
              </a:lnSpc>
            </a:pPr>
            <a:r>
              <a:rPr lang="en-US" sz="7500">
                <a:solidFill>
                  <a:srgbClr val="FBF1E5"/>
                </a:solidFill>
                <a:latin typeface="Loubag"/>
                <a:ea typeface="Loubag"/>
                <a:cs typeface="Loubag"/>
                <a:sym typeface="Loubag"/>
              </a:rPr>
              <a:t>Using Google Trends 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7128018" y="-488785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-2846693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7128018" y="9258300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7259300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368075" y="380939"/>
            <a:ext cx="17551849" cy="9525123"/>
            <a:chOff x="0" y="0"/>
            <a:chExt cx="4622709" cy="250867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622709" cy="2508674"/>
            </a:xfrm>
            <a:custGeom>
              <a:avLst/>
              <a:gdLst/>
              <a:ahLst/>
              <a:cxnLst/>
              <a:rect l="l" t="t" r="r" b="b"/>
              <a:pathLst>
                <a:path w="4622709" h="2508674">
                  <a:moveTo>
                    <a:pt x="7940" y="0"/>
                  </a:moveTo>
                  <a:lnTo>
                    <a:pt x="4614770" y="0"/>
                  </a:lnTo>
                  <a:cubicBezTo>
                    <a:pt x="4616876" y="0"/>
                    <a:pt x="4618895" y="836"/>
                    <a:pt x="4620384" y="2325"/>
                  </a:cubicBezTo>
                  <a:cubicBezTo>
                    <a:pt x="4621873" y="3814"/>
                    <a:pt x="4622709" y="5834"/>
                    <a:pt x="4622709" y="7940"/>
                  </a:cubicBezTo>
                  <a:lnTo>
                    <a:pt x="4622709" y="2500735"/>
                  </a:lnTo>
                  <a:cubicBezTo>
                    <a:pt x="4622709" y="2505120"/>
                    <a:pt x="4619154" y="2508674"/>
                    <a:pt x="4614770" y="2508674"/>
                  </a:cubicBezTo>
                  <a:lnTo>
                    <a:pt x="7940" y="2508674"/>
                  </a:lnTo>
                  <a:cubicBezTo>
                    <a:pt x="3555" y="2508674"/>
                    <a:pt x="0" y="2505120"/>
                    <a:pt x="0" y="2500735"/>
                  </a:cubicBezTo>
                  <a:lnTo>
                    <a:pt x="0" y="7940"/>
                  </a:lnTo>
                  <a:cubicBezTo>
                    <a:pt x="0" y="3555"/>
                    <a:pt x="3555" y="0"/>
                    <a:pt x="7940" y="0"/>
                  </a:cubicBezTo>
                  <a:close/>
                </a:path>
              </a:pathLst>
            </a:custGeom>
            <a:solidFill>
              <a:srgbClr val="81B3B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622709" cy="25467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5778463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1028700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028700" y="89385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5778463" y="89385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2346074" y="2433217"/>
            <a:ext cx="13595851" cy="1309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4"/>
              </a:lnSpc>
            </a:pPr>
            <a:r>
              <a:rPr lang="en-US" sz="9864">
                <a:solidFill>
                  <a:srgbClr val="FBF1E5"/>
                </a:solidFill>
                <a:latin typeface="Loubag"/>
                <a:ea typeface="Loubag"/>
                <a:cs typeface="Loubag"/>
                <a:sym typeface="Loubag"/>
              </a:rPr>
              <a:t>RESEARCH QUESTION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346074" y="4890100"/>
            <a:ext cx="13595851" cy="1109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Does the search intensity for luxury cosmetics and skincare coincide with decreased wages? </a:t>
            </a:r>
          </a:p>
        </p:txBody>
      </p:sp>
      <p:sp>
        <p:nvSpPr>
          <p:cNvPr id="16" name="AutoShape 16"/>
          <p:cNvSpPr/>
          <p:nvPr/>
        </p:nvSpPr>
        <p:spPr>
          <a:xfrm>
            <a:off x="2346074" y="3947522"/>
            <a:ext cx="13595851" cy="0"/>
          </a:xfrm>
          <a:prstGeom prst="line">
            <a:avLst/>
          </a:prstGeom>
          <a:ln w="28575" cap="flat">
            <a:solidFill>
              <a:srgbClr val="FBF1E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7128018" y="-488785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-2846693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7128018" y="9258300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7259300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368075" y="380939"/>
            <a:ext cx="17551849" cy="9525123"/>
            <a:chOff x="0" y="0"/>
            <a:chExt cx="4622709" cy="250867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622709" cy="2508674"/>
            </a:xfrm>
            <a:custGeom>
              <a:avLst/>
              <a:gdLst/>
              <a:ahLst/>
              <a:cxnLst/>
              <a:rect l="l" t="t" r="r" b="b"/>
              <a:pathLst>
                <a:path w="4622709" h="2508674">
                  <a:moveTo>
                    <a:pt x="7940" y="0"/>
                  </a:moveTo>
                  <a:lnTo>
                    <a:pt x="4614770" y="0"/>
                  </a:lnTo>
                  <a:cubicBezTo>
                    <a:pt x="4616876" y="0"/>
                    <a:pt x="4618895" y="836"/>
                    <a:pt x="4620384" y="2325"/>
                  </a:cubicBezTo>
                  <a:cubicBezTo>
                    <a:pt x="4621873" y="3814"/>
                    <a:pt x="4622709" y="5834"/>
                    <a:pt x="4622709" y="7940"/>
                  </a:cubicBezTo>
                  <a:lnTo>
                    <a:pt x="4622709" y="2500735"/>
                  </a:lnTo>
                  <a:cubicBezTo>
                    <a:pt x="4622709" y="2505120"/>
                    <a:pt x="4619154" y="2508674"/>
                    <a:pt x="4614770" y="2508674"/>
                  </a:cubicBezTo>
                  <a:lnTo>
                    <a:pt x="7940" y="2508674"/>
                  </a:lnTo>
                  <a:cubicBezTo>
                    <a:pt x="3555" y="2508674"/>
                    <a:pt x="0" y="2505120"/>
                    <a:pt x="0" y="2500735"/>
                  </a:cubicBezTo>
                  <a:lnTo>
                    <a:pt x="0" y="7940"/>
                  </a:lnTo>
                  <a:cubicBezTo>
                    <a:pt x="0" y="3555"/>
                    <a:pt x="3555" y="0"/>
                    <a:pt x="7940" y="0"/>
                  </a:cubicBezTo>
                  <a:close/>
                </a:path>
              </a:pathLst>
            </a:custGeom>
            <a:solidFill>
              <a:srgbClr val="81B3B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622709" cy="25467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5778463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1028700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028700" y="89385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5778463" y="89385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2346074" y="2080768"/>
            <a:ext cx="13595851" cy="1309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4"/>
              </a:lnSpc>
            </a:pPr>
            <a:r>
              <a:rPr lang="en-US" sz="9864">
                <a:solidFill>
                  <a:srgbClr val="FBF1E5"/>
                </a:solidFill>
                <a:latin typeface="Loubag"/>
                <a:ea typeface="Loubag"/>
                <a:cs typeface="Loubag"/>
                <a:sym typeface="Loubag"/>
              </a:rPr>
              <a:t>VARIABLES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346074" y="3677519"/>
            <a:ext cx="3879997" cy="469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42"/>
              </a:lnSpc>
            </a:pPr>
            <a:r>
              <a:rPr lang="en-US" sz="267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Skincare Brands: </a:t>
            </a:r>
          </a:p>
          <a:p>
            <a:pPr marL="577184" lvl="1" indent="-288592" algn="l">
              <a:lnSpc>
                <a:spcPts val="3742"/>
              </a:lnSpc>
              <a:buFont typeface="Arial"/>
              <a:buChar char="•"/>
            </a:pPr>
            <a:r>
              <a:rPr lang="en-US" sz="267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La Prairie</a:t>
            </a:r>
          </a:p>
          <a:p>
            <a:pPr marL="577184" lvl="1" indent="-288592" algn="l">
              <a:lnSpc>
                <a:spcPts val="3742"/>
              </a:lnSpc>
              <a:buFont typeface="Arial"/>
              <a:buChar char="•"/>
            </a:pPr>
            <a:r>
              <a:rPr lang="en-US" sz="267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La Mer</a:t>
            </a:r>
          </a:p>
          <a:p>
            <a:pPr marL="577184" lvl="1" indent="-288592" algn="l">
              <a:lnSpc>
                <a:spcPts val="3742"/>
              </a:lnSpc>
              <a:buFont typeface="Arial"/>
              <a:buChar char="•"/>
            </a:pPr>
            <a:r>
              <a:rPr lang="en-US" sz="267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Shiseido</a:t>
            </a:r>
          </a:p>
          <a:p>
            <a:pPr marL="577184" lvl="1" indent="-288592" algn="l">
              <a:lnSpc>
                <a:spcPts val="3742"/>
              </a:lnSpc>
              <a:buFont typeface="Arial"/>
              <a:buChar char="•"/>
            </a:pPr>
            <a:r>
              <a:rPr lang="en-US" sz="267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Augustinus Bader</a:t>
            </a:r>
          </a:p>
          <a:p>
            <a:pPr marL="577184" lvl="1" indent="-288592" algn="l">
              <a:lnSpc>
                <a:spcPts val="3742"/>
              </a:lnSpc>
              <a:buFont typeface="Arial"/>
              <a:buChar char="•"/>
            </a:pPr>
            <a:r>
              <a:rPr lang="en-US" sz="267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Caudalie</a:t>
            </a:r>
          </a:p>
          <a:p>
            <a:pPr marL="577184" lvl="1" indent="-288592" algn="l">
              <a:lnSpc>
                <a:spcPts val="3742"/>
              </a:lnSpc>
              <a:buFont typeface="Arial"/>
              <a:buChar char="•"/>
            </a:pPr>
            <a:r>
              <a:rPr lang="en-US" sz="267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SkinCeuticals</a:t>
            </a:r>
          </a:p>
          <a:p>
            <a:pPr marL="577184" lvl="1" indent="-288592" algn="l">
              <a:lnSpc>
                <a:spcPts val="3742"/>
              </a:lnSpc>
              <a:buFont typeface="Arial"/>
              <a:buChar char="•"/>
            </a:pPr>
            <a:r>
              <a:rPr lang="en-US" sz="267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Sisley Paris</a:t>
            </a:r>
          </a:p>
          <a:p>
            <a:pPr marL="577184" lvl="1" indent="-288592" algn="l">
              <a:lnSpc>
                <a:spcPts val="3742"/>
              </a:lnSpc>
              <a:buFont typeface="Arial"/>
              <a:buChar char="•"/>
            </a:pPr>
            <a:r>
              <a:rPr lang="en-US" sz="267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Lancome</a:t>
            </a:r>
          </a:p>
          <a:p>
            <a:pPr marL="577184" lvl="1" indent="-288592" algn="l">
              <a:lnSpc>
                <a:spcPts val="3742"/>
              </a:lnSpc>
              <a:buFont typeface="Arial"/>
              <a:buChar char="•"/>
            </a:pPr>
            <a:r>
              <a:rPr lang="en-US" sz="267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Kiehl’s</a:t>
            </a:r>
          </a:p>
        </p:txBody>
      </p:sp>
      <p:sp>
        <p:nvSpPr>
          <p:cNvPr id="16" name="AutoShape 16"/>
          <p:cNvSpPr/>
          <p:nvPr/>
        </p:nvSpPr>
        <p:spPr>
          <a:xfrm flipV="1">
            <a:off x="2346074" y="3567981"/>
            <a:ext cx="13595851" cy="0"/>
          </a:xfrm>
          <a:prstGeom prst="line">
            <a:avLst/>
          </a:prstGeom>
          <a:ln w="28575" cap="flat">
            <a:solidFill>
              <a:srgbClr val="FBF1E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Box 17"/>
          <p:cNvSpPr txBox="1"/>
          <p:nvPr/>
        </p:nvSpPr>
        <p:spPr>
          <a:xfrm>
            <a:off x="6698751" y="3677519"/>
            <a:ext cx="3988552" cy="33752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847"/>
              </a:lnSpc>
            </a:pPr>
            <a:r>
              <a:rPr lang="en-US" sz="2748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Cosmetic Brands: </a:t>
            </a:r>
          </a:p>
          <a:p>
            <a:pPr marL="593332" lvl="1" indent="-296666" algn="l">
              <a:lnSpc>
                <a:spcPts val="3847"/>
              </a:lnSpc>
              <a:buFont typeface="Arial"/>
              <a:buChar char="•"/>
            </a:pPr>
            <a:r>
              <a:rPr lang="en-US" sz="2748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Chanel Beauty</a:t>
            </a:r>
          </a:p>
          <a:p>
            <a:pPr marL="593332" lvl="1" indent="-296666" algn="l">
              <a:lnSpc>
                <a:spcPts val="3847"/>
              </a:lnSpc>
              <a:buFont typeface="Arial"/>
              <a:buChar char="•"/>
            </a:pPr>
            <a:r>
              <a:rPr lang="en-US" sz="2748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Tom Ford Beauty</a:t>
            </a:r>
          </a:p>
          <a:p>
            <a:pPr marL="593332" lvl="1" indent="-296666" algn="l">
              <a:lnSpc>
                <a:spcPts val="3847"/>
              </a:lnSpc>
              <a:buFont typeface="Arial"/>
              <a:buChar char="•"/>
            </a:pPr>
            <a:r>
              <a:rPr lang="en-US" sz="2748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Dior Beauty</a:t>
            </a:r>
          </a:p>
          <a:p>
            <a:pPr marL="593332" lvl="1" indent="-296666" algn="l">
              <a:lnSpc>
                <a:spcPts val="3847"/>
              </a:lnSpc>
              <a:buFont typeface="Arial"/>
              <a:buChar char="•"/>
            </a:pPr>
            <a:r>
              <a:rPr lang="en-US" sz="2748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YSL Beauty</a:t>
            </a:r>
          </a:p>
          <a:p>
            <a:pPr marL="593332" lvl="1" indent="-296666" algn="l">
              <a:lnSpc>
                <a:spcPts val="3847"/>
              </a:lnSpc>
              <a:buFont typeface="Arial"/>
              <a:buChar char="•"/>
            </a:pPr>
            <a:r>
              <a:rPr lang="en-US" sz="2748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Charlotte Tilburry</a:t>
            </a:r>
          </a:p>
          <a:p>
            <a:pPr marL="593332" lvl="1" indent="-296666" algn="l">
              <a:lnSpc>
                <a:spcPts val="3847"/>
              </a:lnSpc>
              <a:buFont typeface="Arial"/>
              <a:buChar char="•"/>
            </a:pPr>
            <a:r>
              <a:rPr lang="en-US" sz="2748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Laura Mercier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211773" y="7188230"/>
            <a:ext cx="3832489" cy="23087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96"/>
              </a:lnSpc>
            </a:pPr>
            <a:r>
              <a:rPr lang="en-US" sz="2640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Luxury Index: </a:t>
            </a:r>
          </a:p>
          <a:p>
            <a:pPr marL="570117" lvl="1" indent="-285058" algn="l">
              <a:lnSpc>
                <a:spcPts val="3696"/>
              </a:lnSpc>
              <a:buFont typeface="Arial"/>
              <a:buChar char="•"/>
            </a:pPr>
            <a:r>
              <a:rPr lang="en-US" sz="2640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generated variable representing the general interest for luxury brands 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159982" y="3677519"/>
            <a:ext cx="5070257" cy="32242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98"/>
              </a:lnSpc>
            </a:pPr>
            <a:r>
              <a:rPr lang="en-US" sz="3070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Bureau of Labor Statistics</a:t>
            </a:r>
          </a:p>
          <a:p>
            <a:pPr marL="662965" lvl="1" indent="-331482" algn="l">
              <a:lnSpc>
                <a:spcPts val="4298"/>
              </a:lnSpc>
              <a:buFont typeface="Arial"/>
              <a:buChar char="•"/>
            </a:pPr>
            <a:r>
              <a:rPr lang="en-US" sz="3070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Wage and Salary growth over a 12 month period, presented as a percent per yearly quarter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2846693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7128018" y="-488785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7128018" y="9258300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7259300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368075" y="380939"/>
            <a:ext cx="17551849" cy="9525123"/>
            <a:chOff x="0" y="0"/>
            <a:chExt cx="4622709" cy="250867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622709" cy="2508674"/>
            </a:xfrm>
            <a:custGeom>
              <a:avLst/>
              <a:gdLst/>
              <a:ahLst/>
              <a:cxnLst/>
              <a:rect l="l" t="t" r="r" b="b"/>
              <a:pathLst>
                <a:path w="4622709" h="2508674">
                  <a:moveTo>
                    <a:pt x="7940" y="0"/>
                  </a:moveTo>
                  <a:lnTo>
                    <a:pt x="4614770" y="0"/>
                  </a:lnTo>
                  <a:cubicBezTo>
                    <a:pt x="4616876" y="0"/>
                    <a:pt x="4618895" y="836"/>
                    <a:pt x="4620384" y="2325"/>
                  </a:cubicBezTo>
                  <a:cubicBezTo>
                    <a:pt x="4621873" y="3814"/>
                    <a:pt x="4622709" y="5834"/>
                    <a:pt x="4622709" y="7940"/>
                  </a:cubicBezTo>
                  <a:lnTo>
                    <a:pt x="4622709" y="2500735"/>
                  </a:lnTo>
                  <a:cubicBezTo>
                    <a:pt x="4622709" y="2505120"/>
                    <a:pt x="4619154" y="2508674"/>
                    <a:pt x="4614770" y="2508674"/>
                  </a:cubicBezTo>
                  <a:lnTo>
                    <a:pt x="7940" y="2508674"/>
                  </a:lnTo>
                  <a:cubicBezTo>
                    <a:pt x="3555" y="2508674"/>
                    <a:pt x="0" y="2505120"/>
                    <a:pt x="0" y="2500735"/>
                  </a:cubicBezTo>
                  <a:lnTo>
                    <a:pt x="0" y="7940"/>
                  </a:lnTo>
                  <a:cubicBezTo>
                    <a:pt x="0" y="3555"/>
                    <a:pt x="3555" y="0"/>
                    <a:pt x="7940" y="0"/>
                  </a:cubicBezTo>
                  <a:close/>
                </a:path>
              </a:pathLst>
            </a:custGeom>
            <a:solidFill>
              <a:srgbClr val="81B3B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622709" cy="25467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5778463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1028700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028700" y="89385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5941926" y="89385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2113268" y="2686784"/>
            <a:ext cx="14061465" cy="0"/>
          </a:xfrm>
          <a:prstGeom prst="line">
            <a:avLst/>
          </a:prstGeom>
          <a:ln w="28575" cap="flat">
            <a:solidFill>
              <a:srgbClr val="FBF1E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7303159" y="2975834"/>
            <a:ext cx="6385039" cy="1404709"/>
          </a:xfrm>
          <a:custGeom>
            <a:avLst/>
            <a:gdLst/>
            <a:ahLst/>
            <a:cxnLst/>
            <a:rect l="l" t="t" r="r" b="b"/>
            <a:pathLst>
              <a:path w="6385039" h="1404709">
                <a:moveTo>
                  <a:pt x="0" y="0"/>
                </a:moveTo>
                <a:lnTo>
                  <a:pt x="6385039" y="0"/>
                </a:lnTo>
                <a:lnTo>
                  <a:pt x="6385039" y="1404709"/>
                </a:lnTo>
                <a:lnTo>
                  <a:pt x="0" y="140470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16"/>
          <p:cNvSpPr/>
          <p:nvPr/>
        </p:nvSpPr>
        <p:spPr>
          <a:xfrm>
            <a:off x="10743819" y="2932131"/>
            <a:ext cx="5888758" cy="3481728"/>
          </a:xfrm>
          <a:custGeom>
            <a:avLst/>
            <a:gdLst/>
            <a:ahLst/>
            <a:cxnLst/>
            <a:rect l="l" t="t" r="r" b="b"/>
            <a:pathLst>
              <a:path w="5888758" h="3481728">
                <a:moveTo>
                  <a:pt x="0" y="0"/>
                </a:moveTo>
                <a:lnTo>
                  <a:pt x="5888758" y="0"/>
                </a:lnTo>
                <a:lnTo>
                  <a:pt x="5888758" y="3481727"/>
                </a:lnTo>
                <a:lnTo>
                  <a:pt x="0" y="3481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Freeform 17"/>
          <p:cNvSpPr/>
          <p:nvPr/>
        </p:nvSpPr>
        <p:spPr>
          <a:xfrm>
            <a:off x="8768467" y="6413858"/>
            <a:ext cx="4919731" cy="1580464"/>
          </a:xfrm>
          <a:custGeom>
            <a:avLst/>
            <a:gdLst/>
            <a:ahLst/>
            <a:cxnLst/>
            <a:rect l="l" t="t" r="r" b="b"/>
            <a:pathLst>
              <a:path w="4919731" h="1580464">
                <a:moveTo>
                  <a:pt x="0" y="0"/>
                </a:moveTo>
                <a:lnTo>
                  <a:pt x="4919731" y="0"/>
                </a:lnTo>
                <a:lnTo>
                  <a:pt x="4919731" y="1580464"/>
                </a:lnTo>
                <a:lnTo>
                  <a:pt x="0" y="158046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" name="Freeform 18"/>
          <p:cNvSpPr/>
          <p:nvPr/>
        </p:nvSpPr>
        <p:spPr>
          <a:xfrm>
            <a:off x="9499119" y="7994322"/>
            <a:ext cx="6442806" cy="1493170"/>
          </a:xfrm>
          <a:custGeom>
            <a:avLst/>
            <a:gdLst/>
            <a:ahLst/>
            <a:cxnLst/>
            <a:rect l="l" t="t" r="r" b="b"/>
            <a:pathLst>
              <a:path w="6442806" h="1493170">
                <a:moveTo>
                  <a:pt x="0" y="0"/>
                </a:moveTo>
                <a:lnTo>
                  <a:pt x="6442807" y="0"/>
                </a:lnTo>
                <a:lnTo>
                  <a:pt x="6442807" y="1493170"/>
                </a:lnTo>
                <a:lnTo>
                  <a:pt x="0" y="14931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6548" r="-2045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9" name="TextBox 19"/>
          <p:cNvSpPr txBox="1"/>
          <p:nvPr/>
        </p:nvSpPr>
        <p:spPr>
          <a:xfrm>
            <a:off x="2346074" y="1362955"/>
            <a:ext cx="13595851" cy="1309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4"/>
              </a:lnSpc>
            </a:pPr>
            <a:r>
              <a:rPr lang="en-US" sz="9864">
                <a:solidFill>
                  <a:srgbClr val="FBF1E5"/>
                </a:solidFill>
                <a:latin typeface="Loubag"/>
                <a:ea typeface="Loubag"/>
                <a:cs typeface="Loubag"/>
                <a:sym typeface="Loubag"/>
              </a:rPr>
              <a:t>USING APIS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101150" y="2786797"/>
            <a:ext cx="5352867" cy="6466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87"/>
              </a:lnSpc>
            </a:pPr>
            <a:r>
              <a:rPr lang="en-US" sz="263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API Used: Pytrends</a:t>
            </a:r>
          </a:p>
          <a:p>
            <a:pPr algn="l">
              <a:lnSpc>
                <a:spcPts val="3687"/>
              </a:lnSpc>
            </a:pPr>
            <a:r>
              <a:rPr lang="en-US" sz="263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Parameters: </a:t>
            </a:r>
          </a:p>
          <a:p>
            <a:pPr marL="568674" lvl="1" indent="-284337" algn="l">
              <a:lnSpc>
                <a:spcPts val="3687"/>
              </a:lnSpc>
              <a:buFont typeface="Arial"/>
              <a:buChar char="•"/>
            </a:pPr>
            <a:r>
              <a:rPr lang="en-US" sz="263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timeframe</a:t>
            </a:r>
          </a:p>
          <a:p>
            <a:pPr marL="568674" lvl="1" indent="-284337" algn="l">
              <a:lnSpc>
                <a:spcPts val="3687"/>
              </a:lnSpc>
              <a:buFont typeface="Arial"/>
              <a:buChar char="•"/>
            </a:pPr>
            <a:r>
              <a:rPr lang="en-US" sz="263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geo</a:t>
            </a:r>
          </a:p>
          <a:p>
            <a:pPr algn="l">
              <a:lnSpc>
                <a:spcPts val="3687"/>
              </a:lnSpc>
            </a:pPr>
            <a:r>
              <a:rPr lang="en-US" sz="263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Main Issue: </a:t>
            </a:r>
          </a:p>
          <a:p>
            <a:pPr marL="568674" lvl="1" indent="-284337" algn="l">
              <a:lnSpc>
                <a:spcPts val="3687"/>
              </a:lnSpc>
              <a:buFont typeface="Arial"/>
              <a:buChar char="•"/>
            </a:pPr>
            <a:r>
              <a:rPr lang="en-US" sz="263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Google does not like large scaled pull requests, so the function “time.sleep” was used to create pauses in the requests</a:t>
            </a:r>
          </a:p>
          <a:p>
            <a:pPr marL="568674" lvl="1" indent="-284337" algn="l">
              <a:lnSpc>
                <a:spcPts val="3687"/>
              </a:lnSpc>
              <a:buFont typeface="Arial"/>
              <a:buChar char="•"/>
            </a:pPr>
            <a:r>
              <a:rPr lang="en-US" sz="263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Additionally, variables were batched into groups of 5 with a single anchor variable for normalization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7128018" y="-488785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-2846693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7128018" y="9258300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7259300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368075" y="380939"/>
            <a:ext cx="17551849" cy="9525123"/>
            <a:chOff x="0" y="0"/>
            <a:chExt cx="4622709" cy="250867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622709" cy="2508674"/>
            </a:xfrm>
            <a:custGeom>
              <a:avLst/>
              <a:gdLst/>
              <a:ahLst/>
              <a:cxnLst/>
              <a:rect l="l" t="t" r="r" b="b"/>
              <a:pathLst>
                <a:path w="4622709" h="2508674">
                  <a:moveTo>
                    <a:pt x="7940" y="0"/>
                  </a:moveTo>
                  <a:lnTo>
                    <a:pt x="4614770" y="0"/>
                  </a:lnTo>
                  <a:cubicBezTo>
                    <a:pt x="4616876" y="0"/>
                    <a:pt x="4618895" y="836"/>
                    <a:pt x="4620384" y="2325"/>
                  </a:cubicBezTo>
                  <a:cubicBezTo>
                    <a:pt x="4621873" y="3814"/>
                    <a:pt x="4622709" y="5834"/>
                    <a:pt x="4622709" y="7940"/>
                  </a:cubicBezTo>
                  <a:lnTo>
                    <a:pt x="4622709" y="2500735"/>
                  </a:lnTo>
                  <a:cubicBezTo>
                    <a:pt x="4622709" y="2505120"/>
                    <a:pt x="4619154" y="2508674"/>
                    <a:pt x="4614770" y="2508674"/>
                  </a:cubicBezTo>
                  <a:lnTo>
                    <a:pt x="7940" y="2508674"/>
                  </a:lnTo>
                  <a:cubicBezTo>
                    <a:pt x="3555" y="2508674"/>
                    <a:pt x="0" y="2505120"/>
                    <a:pt x="0" y="2500735"/>
                  </a:cubicBezTo>
                  <a:lnTo>
                    <a:pt x="0" y="7940"/>
                  </a:lnTo>
                  <a:cubicBezTo>
                    <a:pt x="0" y="3555"/>
                    <a:pt x="3555" y="0"/>
                    <a:pt x="7940" y="0"/>
                  </a:cubicBezTo>
                  <a:close/>
                </a:path>
              </a:pathLst>
            </a:custGeom>
            <a:solidFill>
              <a:srgbClr val="81B3B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622709" cy="25467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5778463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1028700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028700" y="89385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5778463" y="89385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3028352" y="380939"/>
            <a:ext cx="12231297" cy="9525123"/>
          </a:xfrm>
          <a:custGeom>
            <a:avLst/>
            <a:gdLst/>
            <a:ahLst/>
            <a:cxnLst/>
            <a:rect l="l" t="t" r="r" b="b"/>
            <a:pathLst>
              <a:path w="12231297" h="9525123">
                <a:moveTo>
                  <a:pt x="0" y="0"/>
                </a:moveTo>
                <a:lnTo>
                  <a:pt x="12231296" y="0"/>
                </a:lnTo>
                <a:lnTo>
                  <a:pt x="12231296" y="9525122"/>
                </a:lnTo>
                <a:lnTo>
                  <a:pt x="0" y="95251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7128018" y="-488785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-2846693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7128018" y="9258300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7259300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368075" y="380939"/>
            <a:ext cx="17551849" cy="9525123"/>
            <a:chOff x="0" y="0"/>
            <a:chExt cx="4622709" cy="250867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622709" cy="2508674"/>
            </a:xfrm>
            <a:custGeom>
              <a:avLst/>
              <a:gdLst/>
              <a:ahLst/>
              <a:cxnLst/>
              <a:rect l="l" t="t" r="r" b="b"/>
              <a:pathLst>
                <a:path w="4622709" h="2508674">
                  <a:moveTo>
                    <a:pt x="7940" y="0"/>
                  </a:moveTo>
                  <a:lnTo>
                    <a:pt x="4614770" y="0"/>
                  </a:lnTo>
                  <a:cubicBezTo>
                    <a:pt x="4616876" y="0"/>
                    <a:pt x="4618895" y="836"/>
                    <a:pt x="4620384" y="2325"/>
                  </a:cubicBezTo>
                  <a:cubicBezTo>
                    <a:pt x="4621873" y="3814"/>
                    <a:pt x="4622709" y="5834"/>
                    <a:pt x="4622709" y="7940"/>
                  </a:cubicBezTo>
                  <a:lnTo>
                    <a:pt x="4622709" y="2500735"/>
                  </a:lnTo>
                  <a:cubicBezTo>
                    <a:pt x="4622709" y="2505120"/>
                    <a:pt x="4619154" y="2508674"/>
                    <a:pt x="4614770" y="2508674"/>
                  </a:cubicBezTo>
                  <a:lnTo>
                    <a:pt x="7940" y="2508674"/>
                  </a:lnTo>
                  <a:cubicBezTo>
                    <a:pt x="3555" y="2508674"/>
                    <a:pt x="0" y="2505120"/>
                    <a:pt x="0" y="2500735"/>
                  </a:cubicBezTo>
                  <a:lnTo>
                    <a:pt x="0" y="7940"/>
                  </a:lnTo>
                  <a:cubicBezTo>
                    <a:pt x="0" y="3555"/>
                    <a:pt x="3555" y="0"/>
                    <a:pt x="7940" y="0"/>
                  </a:cubicBezTo>
                  <a:close/>
                </a:path>
              </a:pathLst>
            </a:custGeom>
            <a:solidFill>
              <a:srgbClr val="81B3B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622709" cy="25467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5778463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1028700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028700" y="89385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5778463" y="89385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 flipV="1">
            <a:off x="2346074" y="2383412"/>
            <a:ext cx="13595851" cy="0"/>
          </a:xfrm>
          <a:prstGeom prst="line">
            <a:avLst/>
          </a:prstGeom>
          <a:ln w="28575" cap="flat">
            <a:solidFill>
              <a:srgbClr val="FBF1E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4332269" y="2509264"/>
            <a:ext cx="9623463" cy="7217597"/>
          </a:xfrm>
          <a:custGeom>
            <a:avLst/>
            <a:gdLst/>
            <a:ahLst/>
            <a:cxnLst/>
            <a:rect l="l" t="t" r="r" b="b"/>
            <a:pathLst>
              <a:path w="9623463" h="7217597">
                <a:moveTo>
                  <a:pt x="0" y="0"/>
                </a:moveTo>
                <a:lnTo>
                  <a:pt x="9623462" y="0"/>
                </a:lnTo>
                <a:lnTo>
                  <a:pt x="9623462" y="7217597"/>
                </a:lnTo>
                <a:lnTo>
                  <a:pt x="0" y="72175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2346074" y="1088158"/>
            <a:ext cx="13595851" cy="1309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4"/>
              </a:lnSpc>
            </a:pPr>
            <a:r>
              <a:rPr lang="en-US" sz="9864">
                <a:solidFill>
                  <a:srgbClr val="FBF1E5"/>
                </a:solidFill>
                <a:latin typeface="Loubag"/>
                <a:ea typeface="Loubag"/>
                <a:cs typeface="Loubag"/>
                <a:sym typeface="Loubag"/>
              </a:rPr>
              <a:t>GRAPH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7128018" y="-488785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-2846693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7128018" y="9258300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7259300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368075" y="380939"/>
            <a:ext cx="17551849" cy="9525123"/>
            <a:chOff x="0" y="0"/>
            <a:chExt cx="4622709" cy="250867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622709" cy="2508674"/>
            </a:xfrm>
            <a:custGeom>
              <a:avLst/>
              <a:gdLst/>
              <a:ahLst/>
              <a:cxnLst/>
              <a:rect l="l" t="t" r="r" b="b"/>
              <a:pathLst>
                <a:path w="4622709" h="2508674">
                  <a:moveTo>
                    <a:pt x="7940" y="0"/>
                  </a:moveTo>
                  <a:lnTo>
                    <a:pt x="4614770" y="0"/>
                  </a:lnTo>
                  <a:cubicBezTo>
                    <a:pt x="4616876" y="0"/>
                    <a:pt x="4618895" y="836"/>
                    <a:pt x="4620384" y="2325"/>
                  </a:cubicBezTo>
                  <a:cubicBezTo>
                    <a:pt x="4621873" y="3814"/>
                    <a:pt x="4622709" y="5834"/>
                    <a:pt x="4622709" y="7940"/>
                  </a:cubicBezTo>
                  <a:lnTo>
                    <a:pt x="4622709" y="2500735"/>
                  </a:lnTo>
                  <a:cubicBezTo>
                    <a:pt x="4622709" y="2505120"/>
                    <a:pt x="4619154" y="2508674"/>
                    <a:pt x="4614770" y="2508674"/>
                  </a:cubicBezTo>
                  <a:lnTo>
                    <a:pt x="7940" y="2508674"/>
                  </a:lnTo>
                  <a:cubicBezTo>
                    <a:pt x="3555" y="2508674"/>
                    <a:pt x="0" y="2505120"/>
                    <a:pt x="0" y="2500735"/>
                  </a:cubicBezTo>
                  <a:lnTo>
                    <a:pt x="0" y="7940"/>
                  </a:lnTo>
                  <a:cubicBezTo>
                    <a:pt x="0" y="3555"/>
                    <a:pt x="3555" y="0"/>
                    <a:pt x="7940" y="0"/>
                  </a:cubicBezTo>
                  <a:close/>
                </a:path>
              </a:pathLst>
            </a:custGeom>
            <a:solidFill>
              <a:srgbClr val="81B3B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622709" cy="25467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5778463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1028700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028700" y="89385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5778463" y="89385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 flipV="1">
            <a:off x="2346074" y="2383412"/>
            <a:ext cx="13595851" cy="0"/>
          </a:xfrm>
          <a:prstGeom prst="line">
            <a:avLst/>
          </a:prstGeom>
          <a:ln w="28575" cap="flat">
            <a:solidFill>
              <a:srgbClr val="FBF1E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129519" y="2544373"/>
            <a:ext cx="12028962" cy="7155592"/>
          </a:xfrm>
          <a:custGeom>
            <a:avLst/>
            <a:gdLst/>
            <a:ahLst/>
            <a:cxnLst/>
            <a:rect l="l" t="t" r="r" b="b"/>
            <a:pathLst>
              <a:path w="12028962" h="7155592">
                <a:moveTo>
                  <a:pt x="0" y="0"/>
                </a:moveTo>
                <a:lnTo>
                  <a:pt x="12028962" y="0"/>
                </a:lnTo>
                <a:lnTo>
                  <a:pt x="12028962" y="7155592"/>
                </a:lnTo>
                <a:lnTo>
                  <a:pt x="0" y="715559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6937" r="-1699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2346074" y="1088158"/>
            <a:ext cx="13595851" cy="1309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4"/>
              </a:lnSpc>
            </a:pPr>
            <a:r>
              <a:rPr lang="en-US" sz="9864">
                <a:solidFill>
                  <a:srgbClr val="FBF1E5"/>
                </a:solidFill>
                <a:latin typeface="Loubag"/>
                <a:ea typeface="Loubag"/>
                <a:cs typeface="Loubag"/>
                <a:sym typeface="Loubag"/>
              </a:rPr>
              <a:t>GRAPH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7128018" y="-488785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-2846693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7128018" y="9258300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7259300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368075" y="380939"/>
            <a:ext cx="17551849" cy="9525123"/>
            <a:chOff x="0" y="0"/>
            <a:chExt cx="4622709" cy="250867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622709" cy="2508674"/>
            </a:xfrm>
            <a:custGeom>
              <a:avLst/>
              <a:gdLst/>
              <a:ahLst/>
              <a:cxnLst/>
              <a:rect l="l" t="t" r="r" b="b"/>
              <a:pathLst>
                <a:path w="4622709" h="2508674">
                  <a:moveTo>
                    <a:pt x="7940" y="0"/>
                  </a:moveTo>
                  <a:lnTo>
                    <a:pt x="4614770" y="0"/>
                  </a:lnTo>
                  <a:cubicBezTo>
                    <a:pt x="4616876" y="0"/>
                    <a:pt x="4618895" y="836"/>
                    <a:pt x="4620384" y="2325"/>
                  </a:cubicBezTo>
                  <a:cubicBezTo>
                    <a:pt x="4621873" y="3814"/>
                    <a:pt x="4622709" y="5834"/>
                    <a:pt x="4622709" y="7940"/>
                  </a:cubicBezTo>
                  <a:lnTo>
                    <a:pt x="4622709" y="2500735"/>
                  </a:lnTo>
                  <a:cubicBezTo>
                    <a:pt x="4622709" y="2505120"/>
                    <a:pt x="4619154" y="2508674"/>
                    <a:pt x="4614770" y="2508674"/>
                  </a:cubicBezTo>
                  <a:lnTo>
                    <a:pt x="7940" y="2508674"/>
                  </a:lnTo>
                  <a:cubicBezTo>
                    <a:pt x="3555" y="2508674"/>
                    <a:pt x="0" y="2505120"/>
                    <a:pt x="0" y="2500735"/>
                  </a:cubicBezTo>
                  <a:lnTo>
                    <a:pt x="0" y="7940"/>
                  </a:lnTo>
                  <a:cubicBezTo>
                    <a:pt x="0" y="3555"/>
                    <a:pt x="3555" y="0"/>
                    <a:pt x="7940" y="0"/>
                  </a:cubicBezTo>
                  <a:close/>
                </a:path>
              </a:pathLst>
            </a:custGeom>
            <a:solidFill>
              <a:srgbClr val="81B3B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622709" cy="25467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5778463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1028700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028700" y="89385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5778463" y="89385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 flipV="1">
            <a:off x="2346074" y="2383412"/>
            <a:ext cx="13595851" cy="0"/>
          </a:xfrm>
          <a:prstGeom prst="line">
            <a:avLst/>
          </a:prstGeom>
          <a:ln w="28575" cap="flat">
            <a:solidFill>
              <a:srgbClr val="FBF1E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2856501" y="2651075"/>
            <a:ext cx="12574997" cy="6287499"/>
          </a:xfrm>
          <a:custGeom>
            <a:avLst/>
            <a:gdLst/>
            <a:ahLst/>
            <a:cxnLst/>
            <a:rect l="l" t="t" r="r" b="b"/>
            <a:pathLst>
              <a:path w="12574997" h="6287499">
                <a:moveTo>
                  <a:pt x="0" y="0"/>
                </a:moveTo>
                <a:lnTo>
                  <a:pt x="12574998" y="0"/>
                </a:lnTo>
                <a:lnTo>
                  <a:pt x="12574998" y="6287499"/>
                </a:lnTo>
                <a:lnTo>
                  <a:pt x="0" y="628749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2346074" y="1088158"/>
            <a:ext cx="13595851" cy="1309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4"/>
              </a:lnSpc>
            </a:pPr>
            <a:r>
              <a:rPr lang="en-US" sz="9864">
                <a:solidFill>
                  <a:srgbClr val="FBF1E5"/>
                </a:solidFill>
                <a:latin typeface="Loubag"/>
                <a:ea typeface="Loubag"/>
                <a:cs typeface="Loubag"/>
                <a:sym typeface="Loubag"/>
              </a:rPr>
              <a:t>GRAPH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7128018" y="-488785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-2846693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7128018" y="9258300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7259300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368075" y="380939"/>
            <a:ext cx="17551849" cy="9525123"/>
            <a:chOff x="0" y="0"/>
            <a:chExt cx="4622709" cy="250867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622709" cy="2508674"/>
            </a:xfrm>
            <a:custGeom>
              <a:avLst/>
              <a:gdLst/>
              <a:ahLst/>
              <a:cxnLst/>
              <a:rect l="l" t="t" r="r" b="b"/>
              <a:pathLst>
                <a:path w="4622709" h="2508674">
                  <a:moveTo>
                    <a:pt x="7940" y="0"/>
                  </a:moveTo>
                  <a:lnTo>
                    <a:pt x="4614770" y="0"/>
                  </a:lnTo>
                  <a:cubicBezTo>
                    <a:pt x="4616876" y="0"/>
                    <a:pt x="4618895" y="836"/>
                    <a:pt x="4620384" y="2325"/>
                  </a:cubicBezTo>
                  <a:cubicBezTo>
                    <a:pt x="4621873" y="3814"/>
                    <a:pt x="4622709" y="5834"/>
                    <a:pt x="4622709" y="7940"/>
                  </a:cubicBezTo>
                  <a:lnTo>
                    <a:pt x="4622709" y="2500735"/>
                  </a:lnTo>
                  <a:cubicBezTo>
                    <a:pt x="4622709" y="2505120"/>
                    <a:pt x="4619154" y="2508674"/>
                    <a:pt x="4614770" y="2508674"/>
                  </a:cubicBezTo>
                  <a:lnTo>
                    <a:pt x="7940" y="2508674"/>
                  </a:lnTo>
                  <a:cubicBezTo>
                    <a:pt x="3555" y="2508674"/>
                    <a:pt x="0" y="2505120"/>
                    <a:pt x="0" y="2500735"/>
                  </a:cubicBezTo>
                  <a:lnTo>
                    <a:pt x="0" y="7940"/>
                  </a:lnTo>
                  <a:cubicBezTo>
                    <a:pt x="0" y="3555"/>
                    <a:pt x="3555" y="0"/>
                    <a:pt x="7940" y="0"/>
                  </a:cubicBezTo>
                  <a:close/>
                </a:path>
              </a:pathLst>
            </a:custGeom>
            <a:solidFill>
              <a:srgbClr val="81B3B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622709" cy="25467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5778463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1028700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AutoShape 12"/>
          <p:cNvSpPr/>
          <p:nvPr/>
        </p:nvSpPr>
        <p:spPr>
          <a:xfrm flipV="1">
            <a:off x="2346074" y="2042828"/>
            <a:ext cx="13595851" cy="0"/>
          </a:xfrm>
          <a:prstGeom prst="line">
            <a:avLst/>
          </a:prstGeom>
          <a:ln w="28575" cap="flat">
            <a:solidFill>
              <a:srgbClr val="FBF1E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3565668" y="2209015"/>
            <a:ext cx="3238500" cy="7220157"/>
          </a:xfrm>
          <a:custGeom>
            <a:avLst/>
            <a:gdLst/>
            <a:ahLst/>
            <a:cxnLst/>
            <a:rect l="l" t="t" r="r" b="b"/>
            <a:pathLst>
              <a:path w="3238500" h="7220157">
                <a:moveTo>
                  <a:pt x="0" y="0"/>
                </a:moveTo>
                <a:lnTo>
                  <a:pt x="3238500" y="0"/>
                </a:lnTo>
                <a:lnTo>
                  <a:pt x="3238500" y="7220158"/>
                </a:lnTo>
                <a:lnTo>
                  <a:pt x="0" y="72201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r="-96374" b="-179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7128018" y="2209015"/>
            <a:ext cx="3411524" cy="7220157"/>
          </a:xfrm>
          <a:custGeom>
            <a:avLst/>
            <a:gdLst/>
            <a:ahLst/>
            <a:cxnLst/>
            <a:rect l="l" t="t" r="r" b="b"/>
            <a:pathLst>
              <a:path w="3411524" h="7220157">
                <a:moveTo>
                  <a:pt x="0" y="0"/>
                </a:moveTo>
                <a:lnTo>
                  <a:pt x="3411524" y="0"/>
                </a:lnTo>
                <a:lnTo>
                  <a:pt x="3411524" y="7220158"/>
                </a:lnTo>
                <a:lnTo>
                  <a:pt x="0" y="72201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10867712" y="2555179"/>
            <a:ext cx="3984360" cy="6338285"/>
          </a:xfrm>
          <a:custGeom>
            <a:avLst/>
            <a:gdLst/>
            <a:ahLst/>
            <a:cxnLst/>
            <a:rect l="l" t="t" r="r" b="b"/>
            <a:pathLst>
              <a:path w="3984360" h="6338285">
                <a:moveTo>
                  <a:pt x="0" y="0"/>
                </a:moveTo>
                <a:lnTo>
                  <a:pt x="3984361" y="0"/>
                </a:lnTo>
                <a:lnTo>
                  <a:pt x="3984361" y="6338285"/>
                </a:lnTo>
                <a:lnTo>
                  <a:pt x="0" y="63382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r="-23250" b="-29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2346074" y="899474"/>
            <a:ext cx="13595851" cy="1309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4"/>
              </a:lnSpc>
            </a:pPr>
            <a:r>
              <a:rPr lang="en-US" sz="9864">
                <a:solidFill>
                  <a:srgbClr val="FBF1E5"/>
                </a:solidFill>
                <a:latin typeface="Loubag"/>
                <a:ea typeface="Loubag"/>
                <a:cs typeface="Loubag"/>
                <a:sym typeface="Loubag"/>
              </a:rPr>
              <a:t>RESULTS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7128018" y="-488785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-2846693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7128018" y="9258300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7259300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368075" y="380939"/>
            <a:ext cx="17551849" cy="9525123"/>
            <a:chOff x="0" y="0"/>
            <a:chExt cx="4622709" cy="250867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622709" cy="2508674"/>
            </a:xfrm>
            <a:custGeom>
              <a:avLst/>
              <a:gdLst/>
              <a:ahLst/>
              <a:cxnLst/>
              <a:rect l="l" t="t" r="r" b="b"/>
              <a:pathLst>
                <a:path w="4622709" h="2508674">
                  <a:moveTo>
                    <a:pt x="7940" y="0"/>
                  </a:moveTo>
                  <a:lnTo>
                    <a:pt x="4614770" y="0"/>
                  </a:lnTo>
                  <a:cubicBezTo>
                    <a:pt x="4616876" y="0"/>
                    <a:pt x="4618895" y="836"/>
                    <a:pt x="4620384" y="2325"/>
                  </a:cubicBezTo>
                  <a:cubicBezTo>
                    <a:pt x="4621873" y="3814"/>
                    <a:pt x="4622709" y="5834"/>
                    <a:pt x="4622709" y="7940"/>
                  </a:cubicBezTo>
                  <a:lnTo>
                    <a:pt x="4622709" y="2500735"/>
                  </a:lnTo>
                  <a:cubicBezTo>
                    <a:pt x="4622709" y="2505120"/>
                    <a:pt x="4619154" y="2508674"/>
                    <a:pt x="4614770" y="2508674"/>
                  </a:cubicBezTo>
                  <a:lnTo>
                    <a:pt x="7940" y="2508674"/>
                  </a:lnTo>
                  <a:cubicBezTo>
                    <a:pt x="3555" y="2508674"/>
                    <a:pt x="0" y="2505120"/>
                    <a:pt x="0" y="2500735"/>
                  </a:cubicBezTo>
                  <a:lnTo>
                    <a:pt x="0" y="7940"/>
                  </a:lnTo>
                  <a:cubicBezTo>
                    <a:pt x="0" y="3555"/>
                    <a:pt x="3555" y="0"/>
                    <a:pt x="7940" y="0"/>
                  </a:cubicBezTo>
                  <a:close/>
                </a:path>
              </a:pathLst>
            </a:custGeom>
            <a:solidFill>
              <a:srgbClr val="81B3B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622709" cy="25467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5778463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1028700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AutoShape 12"/>
          <p:cNvSpPr/>
          <p:nvPr/>
        </p:nvSpPr>
        <p:spPr>
          <a:xfrm flipV="1">
            <a:off x="2346074" y="2042828"/>
            <a:ext cx="13595851" cy="0"/>
          </a:xfrm>
          <a:prstGeom prst="line">
            <a:avLst/>
          </a:prstGeom>
          <a:ln w="28575" cap="flat">
            <a:solidFill>
              <a:srgbClr val="FBF1E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2346074" y="899474"/>
            <a:ext cx="13595851" cy="1309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4"/>
              </a:lnSpc>
            </a:pPr>
            <a:r>
              <a:rPr lang="en-US" sz="9864">
                <a:solidFill>
                  <a:srgbClr val="FBF1E5"/>
                </a:solidFill>
                <a:latin typeface="Loubag"/>
                <a:ea typeface="Loubag"/>
                <a:cs typeface="Loubag"/>
                <a:sym typeface="Loubag"/>
              </a:rPr>
              <a:t>RESULTS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71512" y="2360054"/>
            <a:ext cx="4603897" cy="469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42"/>
              </a:lnSpc>
            </a:pPr>
            <a:r>
              <a:rPr lang="en-US" sz="267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Skincare Model: </a:t>
            </a:r>
          </a:p>
          <a:p>
            <a:pPr marL="577184" lvl="1" indent="-288592" algn="l">
              <a:lnSpc>
                <a:spcPts val="3742"/>
              </a:lnSpc>
              <a:buFont typeface="Arial"/>
              <a:buChar char="•"/>
            </a:pPr>
            <a:r>
              <a:rPr lang="en-US" sz="267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La Prairie: -0.005</a:t>
            </a:r>
          </a:p>
          <a:p>
            <a:pPr marL="577184" lvl="1" indent="-288592" algn="l">
              <a:lnSpc>
                <a:spcPts val="3742"/>
              </a:lnSpc>
              <a:buFont typeface="Arial"/>
              <a:buChar char="•"/>
            </a:pPr>
            <a:r>
              <a:rPr lang="en-US" sz="267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La Mer: -0.01</a:t>
            </a:r>
          </a:p>
          <a:p>
            <a:pPr marL="577184" lvl="1" indent="-288592" algn="l">
              <a:lnSpc>
                <a:spcPts val="3742"/>
              </a:lnSpc>
              <a:buFont typeface="Arial"/>
              <a:buChar char="•"/>
            </a:pPr>
            <a:r>
              <a:rPr lang="en-US" sz="267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Shiseido: 0.07***</a:t>
            </a:r>
          </a:p>
          <a:p>
            <a:pPr marL="577184" lvl="1" indent="-288592" algn="l">
              <a:lnSpc>
                <a:spcPts val="3742"/>
              </a:lnSpc>
              <a:buFont typeface="Arial"/>
              <a:buChar char="•"/>
            </a:pPr>
            <a:r>
              <a:rPr lang="en-US" sz="267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Augustinus Bader: -0.01</a:t>
            </a:r>
          </a:p>
          <a:p>
            <a:pPr marL="577184" lvl="1" indent="-288592" algn="l">
              <a:lnSpc>
                <a:spcPts val="3742"/>
              </a:lnSpc>
              <a:buFont typeface="Arial"/>
              <a:buChar char="•"/>
            </a:pPr>
            <a:r>
              <a:rPr lang="en-US" sz="267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Caudalie: -0.04</a:t>
            </a:r>
          </a:p>
          <a:p>
            <a:pPr marL="577184" lvl="1" indent="-288592" algn="l">
              <a:lnSpc>
                <a:spcPts val="3742"/>
              </a:lnSpc>
              <a:buFont typeface="Arial"/>
              <a:buChar char="•"/>
            </a:pPr>
            <a:r>
              <a:rPr lang="en-US" sz="267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SkinCeuticals: 0.01</a:t>
            </a:r>
          </a:p>
          <a:p>
            <a:pPr marL="577184" lvl="1" indent="-288592" algn="l">
              <a:lnSpc>
                <a:spcPts val="3742"/>
              </a:lnSpc>
              <a:buFont typeface="Arial"/>
              <a:buChar char="•"/>
            </a:pPr>
            <a:r>
              <a:rPr lang="en-US" sz="267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Sisley Paris: 0.08*</a:t>
            </a:r>
          </a:p>
          <a:p>
            <a:pPr marL="577184" lvl="1" indent="-288592" algn="l">
              <a:lnSpc>
                <a:spcPts val="3742"/>
              </a:lnSpc>
              <a:buFont typeface="Arial"/>
              <a:buChar char="•"/>
            </a:pPr>
            <a:r>
              <a:rPr lang="en-US" sz="267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Lancome: 0.001***</a:t>
            </a:r>
          </a:p>
          <a:p>
            <a:pPr marL="577184" lvl="1" indent="-288592" algn="l">
              <a:lnSpc>
                <a:spcPts val="3742"/>
              </a:lnSpc>
              <a:buFont typeface="Arial"/>
              <a:buChar char="•"/>
            </a:pPr>
            <a:r>
              <a:rPr lang="en-US" sz="2673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Kiehl’s: -0.14***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27301" y="2360054"/>
            <a:ext cx="5245852" cy="33752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847"/>
              </a:lnSpc>
            </a:pPr>
            <a:r>
              <a:rPr lang="en-US" sz="2748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Cosmetic Brands: </a:t>
            </a:r>
          </a:p>
          <a:p>
            <a:pPr marL="593332" lvl="1" indent="-296666" algn="l">
              <a:lnSpc>
                <a:spcPts val="3847"/>
              </a:lnSpc>
              <a:buFont typeface="Arial"/>
              <a:buChar char="•"/>
            </a:pPr>
            <a:r>
              <a:rPr lang="en-US" sz="2748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Chanel Beauty: -0.12</a:t>
            </a:r>
          </a:p>
          <a:p>
            <a:pPr marL="593332" lvl="1" indent="-296666" algn="l">
              <a:lnSpc>
                <a:spcPts val="3847"/>
              </a:lnSpc>
              <a:buFont typeface="Arial"/>
              <a:buChar char="•"/>
            </a:pPr>
            <a:r>
              <a:rPr lang="en-US" sz="2748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Tom Ford Beauty: -0.08</a:t>
            </a:r>
          </a:p>
          <a:p>
            <a:pPr marL="593332" lvl="1" indent="-296666" algn="l">
              <a:lnSpc>
                <a:spcPts val="3847"/>
              </a:lnSpc>
              <a:buFont typeface="Arial"/>
              <a:buChar char="•"/>
            </a:pPr>
            <a:r>
              <a:rPr lang="en-US" sz="2748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Dior Beauty: 0.05</a:t>
            </a:r>
          </a:p>
          <a:p>
            <a:pPr marL="593332" lvl="1" indent="-296666" algn="l">
              <a:lnSpc>
                <a:spcPts val="3847"/>
              </a:lnSpc>
              <a:buFont typeface="Arial"/>
              <a:buChar char="•"/>
            </a:pPr>
            <a:r>
              <a:rPr lang="en-US" sz="2748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YSL Beauty: -0.01</a:t>
            </a:r>
          </a:p>
          <a:p>
            <a:pPr marL="593332" lvl="1" indent="-296666" algn="l">
              <a:lnSpc>
                <a:spcPts val="3847"/>
              </a:lnSpc>
              <a:buFont typeface="Arial"/>
              <a:buChar char="•"/>
            </a:pPr>
            <a:r>
              <a:rPr lang="en-US" sz="2748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Charlotte Tilburry: 0.28</a:t>
            </a:r>
          </a:p>
          <a:p>
            <a:pPr marL="593332" lvl="1" indent="-296666" algn="l">
              <a:lnSpc>
                <a:spcPts val="3847"/>
              </a:lnSpc>
              <a:buFont typeface="Arial"/>
              <a:buChar char="•"/>
            </a:pPr>
            <a:r>
              <a:rPr lang="en-US" sz="2748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Laura Mercier: 0.04**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25603" y="2151865"/>
            <a:ext cx="3832489" cy="917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96"/>
              </a:lnSpc>
            </a:pPr>
            <a:r>
              <a:rPr lang="en-US" sz="2640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Luxury Index: </a:t>
            </a:r>
          </a:p>
          <a:p>
            <a:pPr marL="570117" lvl="1" indent="-285058" algn="l">
              <a:lnSpc>
                <a:spcPts val="3696"/>
              </a:lnSpc>
              <a:buFont typeface="Arial"/>
              <a:buChar char="•"/>
            </a:pPr>
            <a:r>
              <a:rPr lang="en-US" sz="2640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Coefficient: 0.02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372853" y="8770944"/>
            <a:ext cx="8359772" cy="917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96"/>
              </a:lnSpc>
            </a:pPr>
            <a:r>
              <a:rPr lang="en-US" sz="2640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*All coefficients were multiplied by 10 for ease in interpreting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7128018" y="-488785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-2846693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7128018" y="9258300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7259300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368075" y="380939"/>
            <a:ext cx="17551849" cy="9525123"/>
            <a:chOff x="0" y="0"/>
            <a:chExt cx="4622709" cy="250867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622709" cy="2508674"/>
            </a:xfrm>
            <a:custGeom>
              <a:avLst/>
              <a:gdLst/>
              <a:ahLst/>
              <a:cxnLst/>
              <a:rect l="l" t="t" r="r" b="b"/>
              <a:pathLst>
                <a:path w="4622709" h="2508674">
                  <a:moveTo>
                    <a:pt x="7940" y="0"/>
                  </a:moveTo>
                  <a:lnTo>
                    <a:pt x="4614770" y="0"/>
                  </a:lnTo>
                  <a:cubicBezTo>
                    <a:pt x="4616876" y="0"/>
                    <a:pt x="4618895" y="836"/>
                    <a:pt x="4620384" y="2325"/>
                  </a:cubicBezTo>
                  <a:cubicBezTo>
                    <a:pt x="4621873" y="3814"/>
                    <a:pt x="4622709" y="5834"/>
                    <a:pt x="4622709" y="7940"/>
                  </a:cubicBezTo>
                  <a:lnTo>
                    <a:pt x="4622709" y="2500735"/>
                  </a:lnTo>
                  <a:cubicBezTo>
                    <a:pt x="4622709" y="2505120"/>
                    <a:pt x="4619154" y="2508674"/>
                    <a:pt x="4614770" y="2508674"/>
                  </a:cubicBezTo>
                  <a:lnTo>
                    <a:pt x="7940" y="2508674"/>
                  </a:lnTo>
                  <a:cubicBezTo>
                    <a:pt x="3555" y="2508674"/>
                    <a:pt x="0" y="2505120"/>
                    <a:pt x="0" y="2500735"/>
                  </a:cubicBezTo>
                  <a:lnTo>
                    <a:pt x="0" y="7940"/>
                  </a:lnTo>
                  <a:cubicBezTo>
                    <a:pt x="0" y="3555"/>
                    <a:pt x="3555" y="0"/>
                    <a:pt x="7940" y="0"/>
                  </a:cubicBezTo>
                  <a:close/>
                </a:path>
              </a:pathLst>
            </a:custGeom>
            <a:solidFill>
              <a:srgbClr val="81B3B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622709" cy="25467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5778463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1028700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028700" y="89385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5778463" y="89385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2346074" y="2080768"/>
            <a:ext cx="13595851" cy="1309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4"/>
              </a:lnSpc>
            </a:pPr>
            <a:r>
              <a:rPr lang="en-US" sz="9864">
                <a:solidFill>
                  <a:srgbClr val="FBF1E5"/>
                </a:solidFill>
                <a:latin typeface="Loubag"/>
                <a:ea typeface="Loubag"/>
                <a:cs typeface="Loubag"/>
                <a:sym typeface="Loubag"/>
              </a:rPr>
              <a:t>CONCLUSIONS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346074" y="3915537"/>
            <a:ext cx="13595851" cy="3919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82" lvl="1" indent="-345441" algn="l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Though some were statistically significant, the value size does not provide evidence of the lipstick effect</a:t>
            </a:r>
          </a:p>
          <a:p>
            <a:pPr marL="690882" lvl="1" indent="-345441" algn="l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Lipstick effect may not be seen in search trends, rather simply in the sales for these brands</a:t>
            </a:r>
          </a:p>
          <a:p>
            <a:pPr marL="690882" lvl="1" indent="-345441" algn="l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FBF1E5"/>
                </a:solidFill>
                <a:latin typeface="Tenor Sans"/>
                <a:ea typeface="Tenor Sans"/>
                <a:cs typeface="Tenor Sans"/>
                <a:sym typeface="Tenor Sans"/>
              </a:rPr>
              <a:t>Many of these brands are sold on sites like Sephora or Ulta, meaning people looking to purchase may go to these sites first rather than direct Google searches </a:t>
            </a:r>
          </a:p>
        </p:txBody>
      </p:sp>
      <p:sp>
        <p:nvSpPr>
          <p:cNvPr id="16" name="AutoShape 16"/>
          <p:cNvSpPr/>
          <p:nvPr/>
        </p:nvSpPr>
        <p:spPr>
          <a:xfrm flipV="1">
            <a:off x="2346074" y="3567981"/>
            <a:ext cx="13595851" cy="0"/>
          </a:xfrm>
          <a:prstGeom prst="line">
            <a:avLst/>
          </a:prstGeom>
          <a:ln w="28575" cap="flat">
            <a:solidFill>
              <a:srgbClr val="FBF1E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9222" b="-92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7128018" y="9258300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7128018" y="-488785"/>
            <a:ext cx="4031965" cy="1517485"/>
          </a:xfrm>
          <a:custGeom>
            <a:avLst/>
            <a:gdLst/>
            <a:ahLst/>
            <a:cxnLst/>
            <a:rect l="l" t="t" r="r" b="b"/>
            <a:pathLst>
              <a:path w="4031965" h="1517485">
                <a:moveTo>
                  <a:pt x="0" y="0"/>
                </a:moveTo>
                <a:lnTo>
                  <a:pt x="4031964" y="0"/>
                </a:lnTo>
                <a:lnTo>
                  <a:pt x="4031964" y="1517485"/>
                </a:lnTo>
                <a:lnTo>
                  <a:pt x="0" y="15174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-2846693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7259300" y="3086100"/>
            <a:ext cx="3875393" cy="4114800"/>
          </a:xfrm>
          <a:custGeom>
            <a:avLst/>
            <a:gdLst/>
            <a:ahLst/>
            <a:cxnLst/>
            <a:rect l="l" t="t" r="r" b="b"/>
            <a:pathLst>
              <a:path w="3875393" h="4114800">
                <a:moveTo>
                  <a:pt x="0" y="0"/>
                </a:moveTo>
                <a:lnTo>
                  <a:pt x="3875393" y="0"/>
                </a:lnTo>
                <a:lnTo>
                  <a:pt x="3875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368075" y="380939"/>
            <a:ext cx="17551849" cy="9525123"/>
            <a:chOff x="0" y="0"/>
            <a:chExt cx="4622709" cy="250867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622709" cy="2508674"/>
            </a:xfrm>
            <a:custGeom>
              <a:avLst/>
              <a:gdLst/>
              <a:ahLst/>
              <a:cxnLst/>
              <a:rect l="l" t="t" r="r" b="b"/>
              <a:pathLst>
                <a:path w="4622709" h="2508674">
                  <a:moveTo>
                    <a:pt x="7940" y="0"/>
                  </a:moveTo>
                  <a:lnTo>
                    <a:pt x="4614770" y="0"/>
                  </a:lnTo>
                  <a:cubicBezTo>
                    <a:pt x="4616876" y="0"/>
                    <a:pt x="4618895" y="836"/>
                    <a:pt x="4620384" y="2325"/>
                  </a:cubicBezTo>
                  <a:cubicBezTo>
                    <a:pt x="4621873" y="3814"/>
                    <a:pt x="4622709" y="5834"/>
                    <a:pt x="4622709" y="7940"/>
                  </a:cubicBezTo>
                  <a:lnTo>
                    <a:pt x="4622709" y="2500735"/>
                  </a:lnTo>
                  <a:cubicBezTo>
                    <a:pt x="4622709" y="2505120"/>
                    <a:pt x="4619154" y="2508674"/>
                    <a:pt x="4614770" y="2508674"/>
                  </a:cubicBezTo>
                  <a:lnTo>
                    <a:pt x="7940" y="2508674"/>
                  </a:lnTo>
                  <a:cubicBezTo>
                    <a:pt x="3555" y="2508674"/>
                    <a:pt x="0" y="2505120"/>
                    <a:pt x="0" y="2500735"/>
                  </a:cubicBezTo>
                  <a:lnTo>
                    <a:pt x="0" y="7940"/>
                  </a:lnTo>
                  <a:cubicBezTo>
                    <a:pt x="0" y="3555"/>
                    <a:pt x="3555" y="0"/>
                    <a:pt x="7940" y="0"/>
                  </a:cubicBezTo>
                  <a:close/>
                </a:path>
              </a:pathLst>
            </a:custGeom>
            <a:solidFill>
              <a:srgbClr val="81B3B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622709" cy="25467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5778463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1028700" y="7089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028700" y="89385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5778463" y="8938574"/>
            <a:ext cx="1480837" cy="639453"/>
          </a:xfrm>
          <a:custGeom>
            <a:avLst/>
            <a:gdLst/>
            <a:ahLst/>
            <a:cxnLst/>
            <a:rect l="l" t="t" r="r" b="b"/>
            <a:pathLst>
              <a:path w="1480837" h="639453">
                <a:moveTo>
                  <a:pt x="0" y="0"/>
                </a:moveTo>
                <a:lnTo>
                  <a:pt x="1480837" y="0"/>
                </a:lnTo>
                <a:lnTo>
                  <a:pt x="1480837" y="639452"/>
                </a:lnTo>
                <a:lnTo>
                  <a:pt x="0" y="63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-685800" y="3592066"/>
            <a:ext cx="10633185" cy="47885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272"/>
              </a:lnSpc>
            </a:pPr>
            <a:r>
              <a:rPr lang="en-US" sz="18272" dirty="0">
                <a:solidFill>
                  <a:srgbClr val="FBF1E5"/>
                </a:solidFill>
                <a:latin typeface="Loubag"/>
                <a:ea typeface="Loubag"/>
                <a:cs typeface="Loubag"/>
                <a:sym typeface="Loubag"/>
              </a:rPr>
              <a:t>THANK</a:t>
            </a:r>
          </a:p>
          <a:p>
            <a:pPr algn="ctr">
              <a:lnSpc>
                <a:spcPts val="18272"/>
              </a:lnSpc>
            </a:pPr>
            <a:r>
              <a:rPr lang="en-US" sz="18272" dirty="0">
                <a:solidFill>
                  <a:srgbClr val="FBF1E5"/>
                </a:solidFill>
                <a:latin typeface="Loubag"/>
                <a:ea typeface="Loubag"/>
                <a:cs typeface="Loubag"/>
                <a:sym typeface="Loubag"/>
              </a:rPr>
              <a:t>YOU</a:t>
            </a:r>
          </a:p>
        </p:txBody>
      </p:sp>
      <p:pic>
        <p:nvPicPr>
          <p:cNvPr id="1028" name="Picture 4" descr="8 Makeup Memes Every Makeup Lover Will Understand - Emily Wolff Beauty">
            <a:extLst>
              <a:ext uri="{FF2B5EF4-FFF2-40B4-BE49-F238E27FC236}">
                <a16:creationId xmlns:a16="http://schemas.microsoft.com/office/drawing/2014/main" id="{8C81DF7C-DBD8-EF49-2367-A03D23673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9100" y="1430283"/>
            <a:ext cx="7607300" cy="736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315</Words>
  <Application>Microsoft Macintosh PowerPoint</Application>
  <PresentationFormat>Custom</PresentationFormat>
  <Paragraphs>67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Tenor Sans</vt:lpstr>
      <vt:lpstr>Loubag</vt:lpstr>
      <vt:lpstr>Arial</vt:lpstr>
      <vt:lpstr>Calibri</vt:lpstr>
      <vt:lpstr>Aptos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Lipstick Effect</dc:title>
  <cp:lastModifiedBy>Carpenter, Bailey Rose</cp:lastModifiedBy>
  <cp:revision>2</cp:revision>
  <dcterms:created xsi:type="dcterms:W3CDTF">2006-08-16T00:00:00Z</dcterms:created>
  <dcterms:modified xsi:type="dcterms:W3CDTF">2026-05-12T20:00:09Z</dcterms:modified>
  <dc:identifier>DAHJeJctI6Q</dc:identifier>
</cp:coreProperties>
</file>